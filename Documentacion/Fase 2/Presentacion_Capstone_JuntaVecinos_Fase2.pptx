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jdp8R6POdgpkccWaCL610Q7LoF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h20a66711a1211461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h20a66711a121146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0" name="Google Shape;210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h594b258da157e363_1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h594b258da157e363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Relationship Id="rId4" Type="http://schemas.openxmlformats.org/officeDocument/2006/relationships/image" Target="../media/image21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2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4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11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15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Relationship Id="rId4" Type="http://schemas.openxmlformats.org/officeDocument/2006/relationships/image" Target="../media/image9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822960" y="105156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CL" sz="2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914400" y="1627632"/>
            <a:ext cx="10332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s-CL" sz="2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Plataforma Inteligente de Gestión y</a:t>
            </a:r>
            <a:br>
              <a:rPr b="1" i="0" lang="es-CL" sz="2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CL" sz="2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Caracterización Comunitaria para Juntas de Vecinos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3611880" y="2743200"/>
            <a:ext cx="4937760" cy="347472"/>
          </a:xfrm>
          <a:prstGeom prst="roundRect">
            <a:avLst>
              <a:gd fmla="val 16667" name="adj"/>
            </a:avLst>
          </a:prstGeom>
          <a:solidFill>
            <a:srgbClr val="F5B0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3611880" y="2770632"/>
            <a:ext cx="49377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L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Scrum · Desarrollo Web Full Stack · OCR local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2286000" y="3310128"/>
            <a:ext cx="7498200" cy="13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s-CL" sz="1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Ingeniería Informática</a:t>
            </a:r>
            <a:br>
              <a:rPr b="0" i="0" lang="es-CL" sz="1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CL" sz="1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Escuela de Informática y Telecomunicaciones</a:t>
            </a:r>
            <a:br>
              <a:rPr b="0" i="0" lang="es-CL" sz="1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CL" sz="1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Sede: </a:t>
            </a:r>
            <a:r>
              <a:rPr lang="es-CL" sz="1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Puente Alto</a:t>
            </a:r>
            <a:r>
              <a:rPr b="0" i="0" lang="es-CL" sz="1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· 2026</a:t>
            </a:r>
            <a:br>
              <a:rPr b="0" i="0" lang="es-CL" sz="1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CL" sz="1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Docente: </a:t>
            </a:r>
            <a:r>
              <a:rPr lang="es-CL" sz="17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Fabián</a:t>
            </a:r>
            <a:r>
              <a:rPr lang="es-CL" sz="17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Saldaño Pérez</a:t>
            </a:r>
            <a:endParaRPr sz="17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sz="1250">
              <a:solidFill>
                <a:srgbClr val="4B55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1280160" y="4617720"/>
            <a:ext cx="97842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L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Integrantes del equipo: Iván Tamayo · Rodrigo Romero · Richard Díaz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0" y="6309360"/>
            <a:ext cx="12188952" cy="54864"/>
          </a:xfrm>
          <a:prstGeom prst="rect">
            <a:avLst/>
          </a:prstGeom>
          <a:solidFill>
            <a:srgbClr val="F5B0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0" y="6382512"/>
            <a:ext cx="12188952" cy="54864"/>
          </a:xfrm>
          <a:prstGeom prst="rect">
            <a:avLst/>
          </a:prstGeom>
          <a:solidFill>
            <a:srgbClr val="E6E9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0" y="6455664"/>
            <a:ext cx="12188952" cy="54864"/>
          </a:xfrm>
          <a:prstGeom prst="rect">
            <a:avLst/>
          </a:prstGeom>
          <a:solidFill>
            <a:srgbClr val="7D848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" title="b5dc89_bee4ea4b72ae4270ba9cb445951d63f1~mv2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84200" y="4366325"/>
            <a:ext cx="2161776" cy="162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/>
          <p:nvPr/>
        </p:nvSpPr>
        <p:spPr>
          <a:xfrm>
            <a:off x="502920" y="6565392"/>
            <a:ext cx="7680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s-CL" sz="750" u="none" cap="none" strike="noStrike">
                <a:solidFill>
                  <a:srgbClr val="7D848B"/>
                </a:solidFill>
                <a:latin typeface="Calibri"/>
                <a:ea typeface="Calibri"/>
                <a:cs typeface="Calibri"/>
                <a:sym typeface="Calibri"/>
              </a:rPr>
              <a:t>Capstone Ingeniería Informática · Plataforma para Juntas de Vecinos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11475720" y="656539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s-CL" sz="750" u="none" cap="none" strike="noStrike">
                <a:solidFill>
                  <a:srgbClr val="7D848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2" title="Problemática de gestión comunitari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400" y="854975"/>
            <a:ext cx="9962750" cy="5607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" title="17905349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21200" y="4806200"/>
            <a:ext cx="1558950" cy="155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/>
          <p:nvPr/>
        </p:nvSpPr>
        <p:spPr>
          <a:xfrm>
            <a:off x="502920" y="6565392"/>
            <a:ext cx="7680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s-CL" sz="750" u="none" cap="none" strike="noStrike">
                <a:solidFill>
                  <a:srgbClr val="7D848B"/>
                </a:solidFill>
                <a:latin typeface="Calibri"/>
                <a:ea typeface="Calibri"/>
                <a:cs typeface="Calibri"/>
                <a:sym typeface="Calibri"/>
              </a:rPr>
              <a:t>Capstone Ingeniería Informática · Plataforma para Juntas de Vecinos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11475720" y="656539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s-CL" sz="750" u="none" cap="none" strike="noStrike">
                <a:solidFill>
                  <a:srgbClr val="7D84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3" title="Solución y objetivo del proyect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8700" y="784975"/>
            <a:ext cx="9915027" cy="558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3" title="16059807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31650" y="4938899"/>
            <a:ext cx="1510174" cy="151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/>
        </p:nvSpPr>
        <p:spPr>
          <a:xfrm>
            <a:off x="502920" y="6565392"/>
            <a:ext cx="7680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s-CL" sz="750" u="none" cap="none" strike="noStrike">
                <a:solidFill>
                  <a:srgbClr val="7D848B"/>
                </a:solidFill>
                <a:latin typeface="Calibri"/>
                <a:ea typeface="Calibri"/>
                <a:cs typeface="Calibri"/>
                <a:sym typeface="Calibri"/>
              </a:rPr>
              <a:t>Capstone Ingeniería Informática · Plataforma para Juntas de Vecinos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11475720" y="656539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s-CL" sz="750" u="none" cap="none" strike="noStrike">
                <a:solidFill>
                  <a:srgbClr val="7D848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4" title="Alcances del sistema de telecomunicacion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8375" y="868951"/>
            <a:ext cx="9820024" cy="552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4" title="5c8f08b5fe55e12baae6fc54e46c343a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29025" y="5268375"/>
            <a:ext cx="1609176" cy="120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 txBox="1"/>
          <p:nvPr/>
        </p:nvSpPr>
        <p:spPr>
          <a:xfrm>
            <a:off x="502920" y="6565392"/>
            <a:ext cx="7680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s-CL" sz="750" u="none" cap="none" strike="noStrike">
                <a:solidFill>
                  <a:srgbClr val="7D848B"/>
                </a:solidFill>
                <a:latin typeface="Calibri"/>
                <a:ea typeface="Calibri"/>
                <a:cs typeface="Calibri"/>
                <a:sym typeface="Calibri"/>
              </a:rPr>
              <a:t>Capstone Ingeniería Informática · Plataforma para Juntas de Vecinos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"/>
          <p:cNvSpPr txBox="1"/>
          <p:nvPr/>
        </p:nvSpPr>
        <p:spPr>
          <a:xfrm>
            <a:off x="11475720" y="656539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s-CL" sz="750" u="none" cap="none" strike="noStrike">
                <a:solidFill>
                  <a:srgbClr val="7D848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5" title="Historias, Requisitos y Evolución Municip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188" y="687200"/>
            <a:ext cx="10067576" cy="5666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5" title="original-6c48d665c785944f564f77e22fcac650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29050" y="5143525"/>
            <a:ext cx="1682550" cy="126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 txBox="1"/>
          <p:nvPr/>
        </p:nvSpPr>
        <p:spPr>
          <a:xfrm>
            <a:off x="502920" y="6565392"/>
            <a:ext cx="7680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s-CL" sz="750" u="none" cap="none" strike="noStrike">
                <a:solidFill>
                  <a:srgbClr val="7D848B"/>
                </a:solidFill>
                <a:latin typeface="Calibri"/>
                <a:ea typeface="Calibri"/>
                <a:cs typeface="Calibri"/>
                <a:sym typeface="Calibri"/>
              </a:rPr>
              <a:t>Capstone Ingeniería Informática · Plataforma para Juntas de Vecinos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"/>
          <p:cNvSpPr txBox="1"/>
          <p:nvPr/>
        </p:nvSpPr>
        <p:spPr>
          <a:xfrm>
            <a:off x="11475720" y="656539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s-CL" sz="750" u="none" cap="none" strike="noStrike">
                <a:solidFill>
                  <a:srgbClr val="7D848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2950" y="1053700"/>
            <a:ext cx="9777749" cy="5511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/>
        </p:nvSpPr>
        <p:spPr>
          <a:xfrm>
            <a:off x="641252" y="2274837"/>
            <a:ext cx="8929468" cy="35146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502920" y="621792"/>
            <a:ext cx="78639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s-CL" sz="2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Flujos principales del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8"/>
          <p:cNvSpPr txBox="1"/>
          <p:nvPr/>
        </p:nvSpPr>
        <p:spPr>
          <a:xfrm>
            <a:off x="521207" y="1097280"/>
            <a:ext cx="71322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s-CL" sz="115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Procesos funcionales y evidencia de la aplicación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530352" y="1444752"/>
            <a:ext cx="1005840" cy="45720"/>
          </a:xfrm>
          <a:prstGeom prst="rect">
            <a:avLst/>
          </a:prstGeom>
          <a:solidFill>
            <a:srgbClr val="F5B0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502925" y="1538350"/>
            <a:ext cx="45720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CL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Flujo 1: verificación de residencia y asociación territorial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731520" y="2057400"/>
            <a:ext cx="320040" cy="320040"/>
          </a:xfrm>
          <a:prstGeom prst="roundRect">
            <a:avLst>
              <a:gd fmla="val 16667" name="adj"/>
            </a:avLst>
          </a:prstGeom>
          <a:solidFill>
            <a:srgbClr val="642EA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8"/>
          <p:cNvSpPr txBox="1"/>
          <p:nvPr/>
        </p:nvSpPr>
        <p:spPr>
          <a:xfrm>
            <a:off x="731520" y="2084831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CL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8"/>
          <p:cNvSpPr txBox="1"/>
          <p:nvPr/>
        </p:nvSpPr>
        <p:spPr>
          <a:xfrm>
            <a:off x="1143000" y="2084831"/>
            <a:ext cx="32919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s-CL" sz="12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Registro del vecino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" name="Google Shape;145;p8"/>
          <p:cNvCxnSpPr/>
          <p:nvPr/>
        </p:nvCxnSpPr>
        <p:spPr>
          <a:xfrm>
            <a:off x="896112" y="2377440"/>
            <a:ext cx="0" cy="301752"/>
          </a:xfrm>
          <a:prstGeom prst="straightConnector1">
            <a:avLst/>
          </a:prstGeom>
          <a:noFill/>
          <a:ln cap="flat" cmpd="sng" w="12700">
            <a:solidFill>
              <a:srgbClr val="7D84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46" name="Google Shape;146;p8"/>
          <p:cNvSpPr/>
          <p:nvPr/>
        </p:nvSpPr>
        <p:spPr>
          <a:xfrm>
            <a:off x="731520" y="2679192"/>
            <a:ext cx="320040" cy="320040"/>
          </a:xfrm>
          <a:prstGeom prst="roundRect">
            <a:avLst>
              <a:gd fmla="val 16667" name="adj"/>
            </a:avLst>
          </a:prstGeom>
          <a:solidFill>
            <a:srgbClr val="107CD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8"/>
          <p:cNvSpPr txBox="1"/>
          <p:nvPr/>
        </p:nvSpPr>
        <p:spPr>
          <a:xfrm>
            <a:off x="731520" y="2706624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CL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8"/>
          <p:cNvSpPr txBox="1"/>
          <p:nvPr/>
        </p:nvSpPr>
        <p:spPr>
          <a:xfrm>
            <a:off x="1143000" y="2706624"/>
            <a:ext cx="32919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s-CL" sz="12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Carga del comprobante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" name="Google Shape;149;p8"/>
          <p:cNvCxnSpPr/>
          <p:nvPr/>
        </p:nvCxnSpPr>
        <p:spPr>
          <a:xfrm>
            <a:off x="896112" y="2999232"/>
            <a:ext cx="0" cy="301752"/>
          </a:xfrm>
          <a:prstGeom prst="straightConnector1">
            <a:avLst/>
          </a:prstGeom>
          <a:noFill/>
          <a:ln cap="flat" cmpd="sng" w="12700">
            <a:solidFill>
              <a:srgbClr val="7D84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50" name="Google Shape;150;p8"/>
          <p:cNvSpPr/>
          <p:nvPr/>
        </p:nvSpPr>
        <p:spPr>
          <a:xfrm>
            <a:off x="731520" y="3300984"/>
            <a:ext cx="320040" cy="320040"/>
          </a:xfrm>
          <a:prstGeom prst="roundRect">
            <a:avLst>
              <a:gd fmla="val 16667" name="adj"/>
            </a:avLst>
          </a:prstGeom>
          <a:solidFill>
            <a:srgbClr val="F5B0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8"/>
          <p:cNvSpPr txBox="1"/>
          <p:nvPr/>
        </p:nvSpPr>
        <p:spPr>
          <a:xfrm>
            <a:off x="731520" y="3328416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CL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8"/>
          <p:cNvSpPr txBox="1"/>
          <p:nvPr/>
        </p:nvSpPr>
        <p:spPr>
          <a:xfrm>
            <a:off x="1143000" y="3328416"/>
            <a:ext cx="32919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s-CL" sz="12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Procesamiento OCR local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3" name="Google Shape;153;p8"/>
          <p:cNvCxnSpPr/>
          <p:nvPr/>
        </p:nvCxnSpPr>
        <p:spPr>
          <a:xfrm>
            <a:off x="896112" y="3621024"/>
            <a:ext cx="0" cy="301752"/>
          </a:xfrm>
          <a:prstGeom prst="straightConnector1">
            <a:avLst/>
          </a:prstGeom>
          <a:noFill/>
          <a:ln cap="flat" cmpd="sng" w="12700">
            <a:solidFill>
              <a:srgbClr val="7D84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54" name="Google Shape;154;p8"/>
          <p:cNvSpPr/>
          <p:nvPr/>
        </p:nvSpPr>
        <p:spPr>
          <a:xfrm>
            <a:off x="731520" y="3922776"/>
            <a:ext cx="320040" cy="320040"/>
          </a:xfrm>
          <a:prstGeom prst="roundRect">
            <a:avLst>
              <a:gd fmla="val 16667" name="adj"/>
            </a:avLst>
          </a:prstGeom>
          <a:solidFill>
            <a:srgbClr val="F794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8"/>
          <p:cNvSpPr txBox="1"/>
          <p:nvPr/>
        </p:nvSpPr>
        <p:spPr>
          <a:xfrm>
            <a:off x="731520" y="395020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CL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8"/>
          <p:cNvSpPr txBox="1"/>
          <p:nvPr/>
        </p:nvSpPr>
        <p:spPr>
          <a:xfrm>
            <a:off x="1143000" y="3950208"/>
            <a:ext cx="32919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s-CL" sz="12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Validación automática mediante reglas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" name="Google Shape;157;p8"/>
          <p:cNvCxnSpPr/>
          <p:nvPr/>
        </p:nvCxnSpPr>
        <p:spPr>
          <a:xfrm>
            <a:off x="896112" y="4242816"/>
            <a:ext cx="0" cy="301752"/>
          </a:xfrm>
          <a:prstGeom prst="straightConnector1">
            <a:avLst/>
          </a:prstGeom>
          <a:noFill/>
          <a:ln cap="flat" cmpd="sng" w="12700">
            <a:solidFill>
              <a:srgbClr val="7D84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58" name="Google Shape;158;p8"/>
          <p:cNvSpPr/>
          <p:nvPr/>
        </p:nvSpPr>
        <p:spPr>
          <a:xfrm>
            <a:off x="731520" y="4544568"/>
            <a:ext cx="320040" cy="320040"/>
          </a:xfrm>
          <a:prstGeom prst="roundRect">
            <a:avLst>
              <a:gd fmla="val 16667" name="adj"/>
            </a:avLst>
          </a:prstGeom>
          <a:solidFill>
            <a:srgbClr val="009E6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8"/>
          <p:cNvSpPr txBox="1"/>
          <p:nvPr/>
        </p:nvSpPr>
        <p:spPr>
          <a:xfrm>
            <a:off x="731520" y="457200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CL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8"/>
          <p:cNvSpPr txBox="1"/>
          <p:nvPr/>
        </p:nvSpPr>
        <p:spPr>
          <a:xfrm>
            <a:off x="1143000" y="4572000"/>
            <a:ext cx="32919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s-CL" sz="12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Revisión por Directiva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8"/>
          <p:cNvSpPr txBox="1"/>
          <p:nvPr/>
        </p:nvSpPr>
        <p:spPr>
          <a:xfrm>
            <a:off x="685800" y="525780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CL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Flujo 2: gestión de solicitudes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8"/>
          <p:cNvSpPr txBox="1"/>
          <p:nvPr/>
        </p:nvSpPr>
        <p:spPr>
          <a:xfrm>
            <a:off x="685800" y="5623560"/>
            <a:ext cx="4846200" cy="375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Vecino crea solicitud → Directiva gestiona y responde → el sistema registra el historial → el vecino consulta el seguimiento.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8"/>
          <p:cNvSpPr txBox="1"/>
          <p:nvPr/>
        </p:nvSpPr>
        <p:spPr>
          <a:xfrm>
            <a:off x="6079845" y="6320395"/>
            <a:ext cx="56694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Caso de prueba: documento con antigüedad superior a 90 días, comuna no coincidente y archivo previamente utilizado.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8"/>
          <p:cNvSpPr txBox="1"/>
          <p:nvPr/>
        </p:nvSpPr>
        <p:spPr>
          <a:xfrm>
            <a:off x="502920" y="6565392"/>
            <a:ext cx="7680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s-CL" sz="750" u="none" cap="none" strike="noStrike">
                <a:solidFill>
                  <a:srgbClr val="7D848B"/>
                </a:solidFill>
                <a:latin typeface="Calibri"/>
                <a:ea typeface="Calibri"/>
                <a:cs typeface="Calibri"/>
                <a:sym typeface="Calibri"/>
              </a:rPr>
              <a:t>Capstone Ingeniería Informática · Plataforma para Juntas de Vecinos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8"/>
          <p:cNvSpPr txBox="1"/>
          <p:nvPr/>
        </p:nvSpPr>
        <p:spPr>
          <a:xfrm>
            <a:off x="11475720" y="656539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s-CL" sz="750" u="none" cap="none" strike="noStrike">
                <a:solidFill>
                  <a:srgbClr val="7D848B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3125" y="877638"/>
            <a:ext cx="5442849" cy="5396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"/>
          <p:cNvSpPr txBox="1"/>
          <p:nvPr/>
        </p:nvSpPr>
        <p:spPr>
          <a:xfrm>
            <a:off x="502920" y="6565392"/>
            <a:ext cx="7680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s-CL" sz="750" u="none" cap="none" strike="noStrike">
                <a:solidFill>
                  <a:srgbClr val="7D848B"/>
                </a:solidFill>
                <a:latin typeface="Calibri"/>
                <a:ea typeface="Calibri"/>
                <a:cs typeface="Calibri"/>
                <a:sym typeface="Calibri"/>
              </a:rPr>
              <a:t>Capstone Ingeniería Informática · Plataforma para Juntas de Vecinos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7"/>
          <p:cNvSpPr txBox="1"/>
          <p:nvPr/>
        </p:nvSpPr>
        <p:spPr>
          <a:xfrm>
            <a:off x="11475720" y="656539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s-CL" sz="750" u="none" cap="none" strike="noStrike">
                <a:solidFill>
                  <a:srgbClr val="7D848B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1867" y="1102595"/>
            <a:ext cx="8750080" cy="48432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h20a66711a1211461_0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3987" y="1105450"/>
            <a:ext cx="9664024" cy="540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"/>
          <p:cNvSpPr txBox="1"/>
          <p:nvPr/>
        </p:nvSpPr>
        <p:spPr>
          <a:xfrm>
            <a:off x="502920" y="621792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s-CL" sz="2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Tecnologías del 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9"/>
          <p:cNvSpPr txBox="1"/>
          <p:nvPr/>
        </p:nvSpPr>
        <p:spPr>
          <a:xfrm>
            <a:off x="521207" y="1097280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s-CL" sz="115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Stack utilizado y responsabilidad técnica de cada capa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530352" y="1444752"/>
            <a:ext cx="1005840" cy="45720"/>
          </a:xfrm>
          <a:prstGeom prst="rect">
            <a:avLst/>
          </a:prstGeom>
          <a:solidFill>
            <a:srgbClr val="F5B0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9"/>
          <p:cNvSpPr txBox="1"/>
          <p:nvPr/>
        </p:nvSpPr>
        <p:spPr>
          <a:xfrm>
            <a:off x="502920" y="6565392"/>
            <a:ext cx="7680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s-CL" sz="750" u="none" cap="none" strike="noStrike">
                <a:solidFill>
                  <a:srgbClr val="7D848B"/>
                </a:solidFill>
                <a:latin typeface="Calibri"/>
                <a:ea typeface="Calibri"/>
                <a:cs typeface="Calibri"/>
                <a:sym typeface="Calibri"/>
              </a:rPr>
              <a:t>Capstone Ingeniería Informática · Plataforma para Juntas de Vecinos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9"/>
          <p:cNvSpPr txBox="1"/>
          <p:nvPr/>
        </p:nvSpPr>
        <p:spPr>
          <a:xfrm>
            <a:off x="11475720" y="656539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s-CL" sz="750" u="none" cap="none" strike="noStrike">
                <a:solidFill>
                  <a:srgbClr val="7D848B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9" title="Arquitectura tecnológica por capa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976" y="1423399"/>
            <a:ext cx="9248551" cy="5205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9" title="147957921-f18a8357-4543-440c-891a-7bc1dcbd7def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89425" y="4902325"/>
            <a:ext cx="1852574" cy="138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"/>
          <p:cNvSpPr txBox="1"/>
          <p:nvPr/>
        </p:nvSpPr>
        <p:spPr>
          <a:xfrm>
            <a:off x="502920" y="621792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s-CL" sz="2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Planificación y estimación de riesgos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0"/>
          <p:cNvSpPr txBox="1"/>
          <p:nvPr/>
        </p:nvSpPr>
        <p:spPr>
          <a:xfrm>
            <a:off x="521207" y="1097280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s-CL" sz="115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Gestión de riesgos del proyecto bajo Scrum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0"/>
          <p:cNvSpPr txBox="1"/>
          <p:nvPr/>
        </p:nvSpPr>
        <p:spPr>
          <a:xfrm>
            <a:off x="502920" y="6565392"/>
            <a:ext cx="7680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s-CL" sz="750" u="none" cap="none" strike="noStrike">
                <a:solidFill>
                  <a:srgbClr val="7D848B"/>
                </a:solidFill>
                <a:latin typeface="Calibri"/>
                <a:ea typeface="Calibri"/>
                <a:cs typeface="Calibri"/>
                <a:sym typeface="Calibri"/>
              </a:rPr>
              <a:t>Capstone Ingeniería Informática · Plataforma para Juntas de Vecinos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0"/>
          <p:cNvSpPr txBox="1"/>
          <p:nvPr/>
        </p:nvSpPr>
        <p:spPr>
          <a:xfrm>
            <a:off x="11475720" y="656539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s-CL" sz="750" u="none" cap="none" strike="noStrike">
                <a:solidFill>
                  <a:srgbClr val="7D848B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p10" title="Riesgos, impacto y mitigación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4550" y="1344625"/>
            <a:ext cx="9276436" cy="5220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0" title="18-34-10-554_512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83375" y="5149600"/>
            <a:ext cx="1271226" cy="114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"/>
          <p:cNvSpPr txBox="1"/>
          <p:nvPr/>
        </p:nvSpPr>
        <p:spPr>
          <a:xfrm>
            <a:off x="502920" y="621792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s-CL" sz="2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Planificación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1"/>
          <p:cNvSpPr txBox="1"/>
          <p:nvPr/>
        </p:nvSpPr>
        <p:spPr>
          <a:xfrm>
            <a:off x="502920" y="6565392"/>
            <a:ext cx="7680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s-CL" sz="750" u="none" cap="none" strike="noStrike">
                <a:solidFill>
                  <a:srgbClr val="7D848B"/>
                </a:solidFill>
                <a:latin typeface="Calibri"/>
                <a:ea typeface="Calibri"/>
                <a:cs typeface="Calibri"/>
                <a:sym typeface="Calibri"/>
              </a:rPr>
              <a:t>Capstone Ingeniería Informática · Plataforma para Juntas de Vecinos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1"/>
          <p:cNvSpPr txBox="1"/>
          <p:nvPr/>
        </p:nvSpPr>
        <p:spPr>
          <a:xfrm>
            <a:off x="11475720" y="656539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s-CL" sz="750" u="none" cap="none" strike="noStrike">
                <a:solidFill>
                  <a:srgbClr val="7D848B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7" name="Google Shape;207;p11" title="Roadmap del proyecto APT 20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2550" y="1124700"/>
            <a:ext cx="9476624" cy="533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"/>
          <p:cNvSpPr txBox="1"/>
          <p:nvPr/>
        </p:nvSpPr>
        <p:spPr>
          <a:xfrm>
            <a:off x="502920" y="621792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s-CL" sz="2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Resumen de costos estimados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2"/>
          <p:cNvSpPr txBox="1"/>
          <p:nvPr/>
        </p:nvSpPr>
        <p:spPr>
          <a:xfrm>
            <a:off x="521207" y="1097280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s-CL" sz="115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Estimación académica de recursos y costos directos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2"/>
          <p:cNvSpPr txBox="1"/>
          <p:nvPr/>
        </p:nvSpPr>
        <p:spPr>
          <a:xfrm>
            <a:off x="502920" y="6565392"/>
            <a:ext cx="7680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s-CL" sz="750" u="none" cap="none" strike="noStrike">
                <a:solidFill>
                  <a:srgbClr val="7D848B"/>
                </a:solidFill>
                <a:latin typeface="Calibri"/>
                <a:ea typeface="Calibri"/>
                <a:cs typeface="Calibri"/>
                <a:sym typeface="Calibri"/>
              </a:rPr>
              <a:t>Capstone Ingeniería Informática · Plataforma para Juntas de Vecinos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2"/>
          <p:cNvSpPr txBox="1"/>
          <p:nvPr/>
        </p:nvSpPr>
        <p:spPr>
          <a:xfrm>
            <a:off x="11475720" y="656539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s-CL" sz="750" u="none" cap="none" strike="noStrike">
                <a:solidFill>
                  <a:srgbClr val="7D848B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69720"/>
            <a:ext cx="11887198" cy="842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2192000" cy="666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3"/>
          <p:cNvSpPr txBox="1"/>
          <p:nvPr/>
        </p:nvSpPr>
        <p:spPr>
          <a:xfrm>
            <a:off x="2757950" y="792075"/>
            <a:ext cx="17463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s-CL" sz="2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3"/>
          <p:cNvSpPr txBox="1"/>
          <p:nvPr/>
        </p:nvSpPr>
        <p:spPr>
          <a:xfrm>
            <a:off x="502920" y="6565392"/>
            <a:ext cx="7680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s-CL" sz="750" u="none" cap="none" strike="noStrike">
                <a:solidFill>
                  <a:srgbClr val="7D848B"/>
                </a:solidFill>
                <a:latin typeface="Calibri"/>
                <a:ea typeface="Calibri"/>
                <a:cs typeface="Calibri"/>
                <a:sym typeface="Calibri"/>
              </a:rPr>
              <a:t>Capstone Ingeniería Informática · Plataforma para Juntas de Vecinos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3"/>
          <p:cNvSpPr txBox="1"/>
          <p:nvPr/>
        </p:nvSpPr>
        <p:spPr>
          <a:xfrm>
            <a:off x="11475720" y="6565392"/>
            <a:ext cx="320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s-CL" sz="750" u="none" cap="none" strike="noStrike">
                <a:solidFill>
                  <a:srgbClr val="7D848B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5" name="Google Shape;22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7950" y="1260800"/>
            <a:ext cx="6962725" cy="5025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h594b258da157e363_1_12" title="Conclusiones del Proyecto Junta de Vecin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025" y="110525"/>
            <a:ext cx="11643946" cy="6553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Fabian Saldaño</dc:creator>
</cp:coreProperties>
</file>